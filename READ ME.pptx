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CC8259-C66C-4995-B407-263CDFC6BADE}" type="datetimeFigureOut">
              <a:rPr lang="en-US" smtClean="0"/>
              <a:t>5/29/2026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524743F7-BD02-471D-89B9-F6F01C6F7CD5}"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51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C8259-C66C-4995-B407-263CDFC6BAD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4743F7-BD02-471D-89B9-F6F01C6F7CD5}"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573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CC8259-C66C-4995-B407-263CDFC6BAD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4743F7-BD02-471D-89B9-F6F01C6F7CD5}"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449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CC8259-C66C-4995-B407-263CDFC6BADE}"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4743F7-BD02-471D-89B9-F6F01C6F7CD5}"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243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CC8259-C66C-4995-B407-263CDFC6BADE}"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4743F7-BD02-471D-89B9-F6F01C6F7CD5}"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66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CC8259-C66C-4995-B407-263CDFC6BADE}"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4743F7-BD02-471D-89B9-F6F01C6F7CD5}"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3030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CC8259-C66C-4995-B407-263CDFC6BADE}"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4743F7-BD02-471D-89B9-F6F01C6F7CD5}" type="slidenum">
              <a:rPr lang="en-US" smtClean="0"/>
              <a:t>‹#›</a:t>
            </a:fld>
            <a:endParaRPr lang="en-US"/>
          </a:p>
        </p:txBody>
      </p:sp>
    </p:spTree>
    <p:extLst>
      <p:ext uri="{BB962C8B-B14F-4D97-AF65-F5344CB8AC3E}">
        <p14:creationId xmlns:p14="http://schemas.microsoft.com/office/powerpoint/2010/main" val="330505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CC8259-C66C-4995-B407-263CDFC6BADE}"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4743F7-BD02-471D-89B9-F6F01C6F7CD5}"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7492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BCC8259-C66C-4995-B407-263CDFC6BADE}" type="datetimeFigureOut">
              <a:rPr lang="en-US" smtClean="0"/>
              <a:t>5/29/2026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524743F7-BD02-471D-89B9-F6F01C6F7CD5}"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607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C8259-C66C-4995-B407-263CDFC6BAD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4743F7-BD02-471D-89B9-F6F01C6F7CD5}"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989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C8259-C66C-4995-B407-263CDFC6BAD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4743F7-BD02-471D-89B9-F6F01C6F7CD5}"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0576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BCC8259-C66C-4995-B407-263CDFC6BADE}" type="datetimeFigureOut">
              <a:rPr lang="en-US" smtClean="0"/>
              <a:t>5/29/2026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24743F7-BD02-471D-89B9-F6F01C6F7CD5}"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9646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loud.google.com/"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 Id="rId5" Type="http://schemas.openxmlformats.org/officeDocument/2006/relationships/hyperlink" Target="https://cloud.google.com/sdk/docs/install" TargetMode="External"/><Relationship Id="rId4" Type="http://schemas.openxmlformats.org/officeDocument/2006/relationships/hyperlink" Target="https://console.cloud.google.com/apis/library/aiplatform.googleapi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B3371-675D-1272-9969-308447DF4E40}"/>
              </a:ext>
            </a:extLst>
          </p:cNvPr>
          <p:cNvSpPr>
            <a:spLocks noGrp="1"/>
          </p:cNvSpPr>
          <p:nvPr>
            <p:ph type="ctrTitle"/>
          </p:nvPr>
        </p:nvSpPr>
        <p:spPr>
          <a:xfrm>
            <a:off x="1524000" y="970703"/>
            <a:ext cx="9144000" cy="2387600"/>
          </a:xfrm>
        </p:spPr>
        <p:txBody>
          <a:bodyPr>
            <a:noAutofit/>
          </a:bodyPr>
          <a:lstStyle/>
          <a:p>
            <a:r>
              <a:rPr lang="en-US" sz="6000" dirty="0"/>
              <a:t>Korean Novel Glossary Maker</a:t>
            </a:r>
          </a:p>
        </p:txBody>
      </p:sp>
      <p:sp>
        <p:nvSpPr>
          <p:cNvPr id="3" name="Subtitle 2">
            <a:extLst>
              <a:ext uri="{FF2B5EF4-FFF2-40B4-BE49-F238E27FC236}">
                <a16:creationId xmlns:a16="http://schemas.microsoft.com/office/drawing/2014/main" id="{8C2893AA-DBC9-4F0F-B988-B1C2A5F1CBEA}"/>
              </a:ext>
            </a:extLst>
          </p:cNvPr>
          <p:cNvSpPr>
            <a:spLocks noGrp="1"/>
          </p:cNvSpPr>
          <p:nvPr>
            <p:ph type="subTitle" idx="1"/>
          </p:nvPr>
        </p:nvSpPr>
        <p:spPr>
          <a:xfrm>
            <a:off x="1524000" y="3820603"/>
            <a:ext cx="9144000" cy="1655762"/>
          </a:xfrm>
        </p:spPr>
        <p:txBody>
          <a:bodyPr/>
          <a:lstStyle/>
          <a:p>
            <a:r>
              <a:rPr lang="en-US" dirty="0"/>
              <a:t>By: FoodieMonster007</a:t>
            </a:r>
          </a:p>
        </p:txBody>
      </p:sp>
    </p:spTree>
    <p:extLst>
      <p:ext uri="{BB962C8B-B14F-4D97-AF65-F5344CB8AC3E}">
        <p14:creationId xmlns:p14="http://schemas.microsoft.com/office/powerpoint/2010/main" val="307684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4D7E0-7659-5AFC-19FE-9EEC91E18ED9}"/>
              </a:ext>
            </a:extLst>
          </p:cNvPr>
          <p:cNvSpPr>
            <a:spLocks noGrp="1"/>
          </p:cNvSpPr>
          <p:nvPr>
            <p:ph type="title"/>
          </p:nvPr>
        </p:nvSpPr>
        <p:spPr/>
        <p:txBody>
          <a:bodyPr/>
          <a:lstStyle/>
          <a:p>
            <a:r>
              <a:rPr lang="en-US" dirty="0"/>
              <a:t>What does glossary maker do?</a:t>
            </a:r>
          </a:p>
        </p:txBody>
      </p:sp>
      <p:sp>
        <p:nvSpPr>
          <p:cNvPr id="3" name="Content Placeholder 2">
            <a:extLst>
              <a:ext uri="{FF2B5EF4-FFF2-40B4-BE49-F238E27FC236}">
                <a16:creationId xmlns:a16="http://schemas.microsoft.com/office/drawing/2014/main" id="{E2E5B7A7-BC3E-CEBA-EDF9-954EBBE36FF1}"/>
              </a:ext>
            </a:extLst>
          </p:cNvPr>
          <p:cNvSpPr>
            <a:spLocks noGrp="1"/>
          </p:cNvSpPr>
          <p:nvPr>
            <p:ph idx="1"/>
          </p:nvPr>
        </p:nvSpPr>
        <p:spPr/>
        <p:txBody>
          <a:bodyPr>
            <a:normAutofit/>
          </a:bodyPr>
          <a:lstStyle/>
          <a:p>
            <a:r>
              <a:rPr lang="en-US" sz="2400" dirty="0"/>
              <a:t>This tool helps you create a translation glossary spreadsheet for Korean novels, to improve the quality of your machine translations. Here is an example of the output:</a:t>
            </a:r>
          </a:p>
        </p:txBody>
      </p:sp>
      <p:pic>
        <p:nvPicPr>
          <p:cNvPr id="6" name="Picture 5">
            <a:extLst>
              <a:ext uri="{FF2B5EF4-FFF2-40B4-BE49-F238E27FC236}">
                <a16:creationId xmlns:a16="http://schemas.microsoft.com/office/drawing/2014/main" id="{6382F42A-0279-7FDA-C1D9-DD8A511EB8AD}"/>
              </a:ext>
            </a:extLst>
          </p:cNvPr>
          <p:cNvPicPr>
            <a:picLocks noChangeAspect="1"/>
          </p:cNvPicPr>
          <p:nvPr/>
        </p:nvPicPr>
        <p:blipFill>
          <a:blip r:embed="rId2">
            <a:extLst>
              <a:ext uri="{28A0092B-C50C-407E-A947-70E740481C1C}">
                <a14:useLocalDpi xmlns:a14="http://schemas.microsoft.com/office/drawing/2010/main" val="0"/>
              </a:ext>
            </a:extLst>
          </a:blip>
          <a:srcRect t="4685" b="-2326"/>
          <a:stretch>
            <a:fillRect/>
          </a:stretch>
        </p:blipFill>
        <p:spPr>
          <a:xfrm>
            <a:off x="4895043" y="3010752"/>
            <a:ext cx="5797694" cy="3042729"/>
          </a:xfrm>
          <a:prstGeom prst="rect">
            <a:avLst/>
          </a:prstGeom>
        </p:spPr>
      </p:pic>
    </p:spTree>
    <p:extLst>
      <p:ext uri="{BB962C8B-B14F-4D97-AF65-F5344CB8AC3E}">
        <p14:creationId xmlns:p14="http://schemas.microsoft.com/office/powerpoint/2010/main" val="1206607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9622-BABB-9218-4F1E-08A60F474367}"/>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2E0159C7-5115-F8EA-F5EC-608B8AD6ED96}"/>
              </a:ext>
            </a:extLst>
          </p:cNvPr>
          <p:cNvSpPr>
            <a:spLocks noGrp="1"/>
          </p:cNvSpPr>
          <p:nvPr>
            <p:ph idx="1"/>
          </p:nvPr>
        </p:nvSpPr>
        <p:spPr/>
        <p:txBody>
          <a:bodyPr>
            <a:normAutofit fontScale="85000" lnSpcReduction="20000"/>
          </a:bodyPr>
          <a:lstStyle/>
          <a:p>
            <a:r>
              <a:rPr lang="en-US" dirty="0"/>
              <a:t>1) </a:t>
            </a:r>
            <a:r>
              <a:rPr lang="en-US" b="1" dirty="0"/>
              <a:t>Python</a:t>
            </a:r>
            <a:r>
              <a:rPr lang="en-US" dirty="0"/>
              <a:t>:  This is a programming language that makes the tool work. You'll need to install it from the official website (</a:t>
            </a:r>
            <a:r>
              <a:rPr lang="en-US" dirty="0">
                <a:hlinkClick r:id="rId2"/>
              </a:rPr>
              <a:t>https://www.python.org/downloads/</a:t>
            </a:r>
            <a:r>
              <a:rPr lang="en-US" dirty="0"/>
              <a:t>). Make sure to check the 2 boxes that say "Add Python to PATH" and "pip" during installation. This step lets your computer easily find and run the program.</a:t>
            </a:r>
          </a:p>
          <a:p>
            <a:r>
              <a:rPr lang="en-US" dirty="0"/>
              <a:t>2) </a:t>
            </a:r>
            <a:r>
              <a:rPr lang="en-US" b="1" dirty="0"/>
              <a:t>Google Cloud Project</a:t>
            </a:r>
            <a:r>
              <a:rPr lang="en-US" dirty="0"/>
              <a:t>: Create a google cloud project at </a:t>
            </a:r>
            <a:r>
              <a:rPr lang="en-US" dirty="0">
                <a:hlinkClick r:id="rId3"/>
              </a:rPr>
              <a:t>https://cloud.google.com</a:t>
            </a:r>
            <a:r>
              <a:rPr lang="en-US" dirty="0"/>
              <a:t>. Enable Vertex API at </a:t>
            </a:r>
            <a:r>
              <a:rPr lang="en-US" dirty="0">
                <a:hlinkClick r:id="rId4"/>
              </a:rPr>
              <a:t>https://console.cloud.google.com/apis/library/aiplatform.googleapis.com</a:t>
            </a:r>
            <a:r>
              <a:rPr lang="en-US" dirty="0"/>
              <a:t>. Download and install </a:t>
            </a:r>
            <a:r>
              <a:rPr lang="en-US" dirty="0" err="1"/>
              <a:t>gcloud</a:t>
            </a:r>
            <a:r>
              <a:rPr lang="en-US" dirty="0"/>
              <a:t> from </a:t>
            </a:r>
            <a:r>
              <a:rPr lang="en-US" dirty="0">
                <a:hlinkClick r:id="rId5"/>
              </a:rPr>
              <a:t>https://cloud.google.com/sdk/docs/install</a:t>
            </a:r>
            <a:r>
              <a:rPr lang="en-US" dirty="0"/>
              <a:t>. Open a new terminal and run: </a:t>
            </a:r>
            <a:r>
              <a:rPr lang="en-US" dirty="0" err="1"/>
              <a:t>gcloud</a:t>
            </a:r>
            <a:r>
              <a:rPr lang="en-US" dirty="0"/>
              <a:t> auth application-default login</a:t>
            </a:r>
          </a:p>
          <a:p>
            <a:r>
              <a:rPr lang="en-US" dirty="0"/>
              <a:t>3) </a:t>
            </a:r>
            <a:r>
              <a:rPr lang="en-US" b="1" dirty="0"/>
              <a:t>Run "setup.py"</a:t>
            </a:r>
            <a:r>
              <a:rPr lang="en-US" dirty="0"/>
              <a:t> by double-clicking it before you proceed to ensure everything is properly set up. You only ever need to run it ONCE. You should see the message "SETUP SUCCESSFUL!" in the command prompt window that pops up.</a:t>
            </a:r>
          </a:p>
        </p:txBody>
      </p:sp>
    </p:spTree>
    <p:extLst>
      <p:ext uri="{BB962C8B-B14F-4D97-AF65-F5344CB8AC3E}">
        <p14:creationId xmlns:p14="http://schemas.microsoft.com/office/powerpoint/2010/main" val="1343341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B0EB-79BB-1DF7-A22C-3E093C019757}"/>
              </a:ext>
            </a:extLst>
          </p:cNvPr>
          <p:cNvSpPr>
            <a:spLocks noGrp="1"/>
          </p:cNvSpPr>
          <p:nvPr>
            <p:ph type="title"/>
          </p:nvPr>
        </p:nvSpPr>
        <p:spPr/>
        <p:txBody>
          <a:bodyPr/>
          <a:lstStyle/>
          <a:p>
            <a:r>
              <a:rPr lang="en-US" dirty="0"/>
              <a:t>Instructions</a:t>
            </a:r>
          </a:p>
        </p:txBody>
      </p:sp>
      <p:sp>
        <p:nvSpPr>
          <p:cNvPr id="3" name="Content Placeholder 2">
            <a:extLst>
              <a:ext uri="{FF2B5EF4-FFF2-40B4-BE49-F238E27FC236}">
                <a16:creationId xmlns:a16="http://schemas.microsoft.com/office/drawing/2014/main" id="{76072A89-589E-C013-D921-665706ADDBF8}"/>
              </a:ext>
            </a:extLst>
          </p:cNvPr>
          <p:cNvSpPr>
            <a:spLocks noGrp="1"/>
          </p:cNvSpPr>
          <p:nvPr>
            <p:ph idx="1"/>
          </p:nvPr>
        </p:nvSpPr>
        <p:spPr/>
        <p:txBody>
          <a:bodyPr/>
          <a:lstStyle/>
          <a:p>
            <a:r>
              <a:rPr lang="en-US" dirty="0"/>
              <a:t>Put your novel chapter Korean </a:t>
            </a:r>
            <a:r>
              <a:rPr lang="en-US" dirty="0" err="1"/>
              <a:t>raws</a:t>
            </a:r>
            <a:r>
              <a:rPr lang="en-US" dirty="0"/>
              <a:t> in .txt file format inside a folder and copy it into the main directory. I have provided a folder named "</a:t>
            </a:r>
            <a:r>
              <a:rPr lang="en-US" dirty="0" err="1"/>
              <a:t>raws</a:t>
            </a:r>
            <a:r>
              <a:rPr lang="en-US" dirty="0"/>
              <a:t>" as an example.</a:t>
            </a:r>
          </a:p>
          <a:p>
            <a:r>
              <a:rPr lang="en-US" dirty="0"/>
              <a:t>You can name the folder anything you want, but it must not have spaces. E.g. “</a:t>
            </a:r>
            <a:r>
              <a:rPr lang="en-US" dirty="0" err="1"/>
              <a:t>Absolute_Regression</a:t>
            </a:r>
            <a:r>
              <a:rPr lang="en-US" dirty="0"/>
              <a:t>” or  “Solo-Leveling” are fine but not “Return of the Blossoming Blade”</a:t>
            </a:r>
          </a:p>
          <a:p>
            <a:endParaRPr lang="en-US" dirty="0"/>
          </a:p>
        </p:txBody>
      </p:sp>
    </p:spTree>
    <p:extLst>
      <p:ext uri="{BB962C8B-B14F-4D97-AF65-F5344CB8AC3E}">
        <p14:creationId xmlns:p14="http://schemas.microsoft.com/office/powerpoint/2010/main" val="1828900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CC6ADD-C731-88A3-EE3D-9B282ABD2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2428" y="2456201"/>
            <a:ext cx="4310573" cy="3498159"/>
          </a:xfrm>
          <a:prstGeom prst="rect">
            <a:avLst/>
          </a:prstGeom>
        </p:spPr>
      </p:pic>
      <p:sp>
        <p:nvSpPr>
          <p:cNvPr id="2" name="Title 1">
            <a:extLst>
              <a:ext uri="{FF2B5EF4-FFF2-40B4-BE49-F238E27FC236}">
                <a16:creationId xmlns:a16="http://schemas.microsoft.com/office/drawing/2014/main" id="{63272814-9AD7-06D1-0700-DEC3A005E92B}"/>
              </a:ext>
            </a:extLst>
          </p:cNvPr>
          <p:cNvSpPr>
            <a:spLocks noGrp="1"/>
          </p:cNvSpPr>
          <p:nvPr>
            <p:ph type="title"/>
          </p:nvPr>
        </p:nvSpPr>
        <p:spPr/>
        <p:txBody>
          <a:bodyPr/>
          <a:lstStyle/>
          <a:p>
            <a:r>
              <a:rPr lang="en-US" dirty="0"/>
              <a:t>instructions</a:t>
            </a:r>
          </a:p>
        </p:txBody>
      </p:sp>
      <p:sp>
        <p:nvSpPr>
          <p:cNvPr id="3" name="Content Placeholder 2">
            <a:extLst>
              <a:ext uri="{FF2B5EF4-FFF2-40B4-BE49-F238E27FC236}">
                <a16:creationId xmlns:a16="http://schemas.microsoft.com/office/drawing/2014/main" id="{41E59C3D-7767-FE02-8FB5-DA23333EE37B}"/>
              </a:ext>
            </a:extLst>
          </p:cNvPr>
          <p:cNvSpPr>
            <a:spLocks noGrp="1"/>
          </p:cNvSpPr>
          <p:nvPr>
            <p:ph idx="1"/>
          </p:nvPr>
        </p:nvSpPr>
        <p:spPr/>
        <p:txBody>
          <a:bodyPr/>
          <a:lstStyle/>
          <a:p>
            <a:r>
              <a:rPr lang="en-US" dirty="0"/>
              <a:t>Start the Program: Find the program file called </a:t>
            </a:r>
            <a:r>
              <a:rPr lang="en-US" dirty="0">
                <a:solidFill>
                  <a:srgbClr val="FF0000"/>
                </a:solidFill>
              </a:rPr>
              <a:t>GLOSSARY_MAKER.py </a:t>
            </a:r>
            <a:r>
              <a:rPr lang="en-US" dirty="0"/>
              <a:t>and double click it. You should see the following screen:</a:t>
            </a:r>
          </a:p>
        </p:txBody>
      </p:sp>
    </p:spTree>
    <p:extLst>
      <p:ext uri="{BB962C8B-B14F-4D97-AF65-F5344CB8AC3E}">
        <p14:creationId xmlns:p14="http://schemas.microsoft.com/office/powerpoint/2010/main" val="473776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729F-4042-04EE-8AD7-29E7EA8644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333E162-4B54-3EE5-D74C-C20597F92E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980" y="2016125"/>
            <a:ext cx="5771232" cy="4683528"/>
          </a:xfrm>
          <a:prstGeom prst="rect">
            <a:avLst/>
          </a:prstGeom>
        </p:spPr>
      </p:pic>
      <p:sp>
        <p:nvSpPr>
          <p:cNvPr id="2" name="Title 1">
            <a:extLst>
              <a:ext uri="{FF2B5EF4-FFF2-40B4-BE49-F238E27FC236}">
                <a16:creationId xmlns:a16="http://schemas.microsoft.com/office/drawing/2014/main" id="{01016FC0-A027-591C-1017-E4428E6C8B2D}"/>
              </a:ext>
            </a:extLst>
          </p:cNvPr>
          <p:cNvSpPr>
            <a:spLocks noGrp="1"/>
          </p:cNvSpPr>
          <p:nvPr>
            <p:ph type="title"/>
          </p:nvPr>
        </p:nvSpPr>
        <p:spPr/>
        <p:txBody>
          <a:bodyPr/>
          <a:lstStyle/>
          <a:p>
            <a:r>
              <a:rPr lang="en-US" dirty="0"/>
              <a:t>Instructions – Main settings tab</a:t>
            </a:r>
          </a:p>
        </p:txBody>
      </p:sp>
      <p:cxnSp>
        <p:nvCxnSpPr>
          <p:cNvPr id="7" name="Straight Arrow Connector 6">
            <a:extLst>
              <a:ext uri="{FF2B5EF4-FFF2-40B4-BE49-F238E27FC236}">
                <a16:creationId xmlns:a16="http://schemas.microsoft.com/office/drawing/2014/main" id="{B281DA9B-4458-F786-6DB6-8D8C192EFE49}"/>
              </a:ext>
            </a:extLst>
          </p:cNvPr>
          <p:cNvCxnSpPr>
            <a:cxnSpLocks/>
            <a:stCxn id="9" idx="1"/>
          </p:cNvCxnSpPr>
          <p:nvPr/>
        </p:nvCxnSpPr>
        <p:spPr>
          <a:xfrm flipH="1">
            <a:off x="4299909" y="2097471"/>
            <a:ext cx="3131943" cy="5028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112AC6-10D6-D156-C5CC-EE79BDED4E16}"/>
              </a:ext>
            </a:extLst>
          </p:cNvPr>
          <p:cNvSpPr txBox="1"/>
          <p:nvPr/>
        </p:nvSpPr>
        <p:spPr>
          <a:xfrm>
            <a:off x="7431852" y="1943582"/>
            <a:ext cx="4687973" cy="307777"/>
          </a:xfrm>
          <a:prstGeom prst="rect">
            <a:avLst/>
          </a:prstGeom>
          <a:noFill/>
        </p:spPr>
        <p:txBody>
          <a:bodyPr wrap="square" rtlCol="0">
            <a:spAutoFit/>
          </a:bodyPr>
          <a:lstStyle/>
          <a:p>
            <a:r>
              <a:rPr lang="en-US" sz="1400" dirty="0"/>
              <a:t>Paste the Google API key you got earlier here</a:t>
            </a:r>
          </a:p>
        </p:txBody>
      </p:sp>
      <p:cxnSp>
        <p:nvCxnSpPr>
          <p:cNvPr id="11" name="Straight Arrow Connector 10">
            <a:extLst>
              <a:ext uri="{FF2B5EF4-FFF2-40B4-BE49-F238E27FC236}">
                <a16:creationId xmlns:a16="http://schemas.microsoft.com/office/drawing/2014/main" id="{54FD6BE7-6B51-690A-801D-E92780A67B4D}"/>
              </a:ext>
            </a:extLst>
          </p:cNvPr>
          <p:cNvCxnSpPr>
            <a:cxnSpLocks/>
          </p:cNvCxnSpPr>
          <p:nvPr/>
        </p:nvCxnSpPr>
        <p:spPr>
          <a:xfrm flipH="1">
            <a:off x="4224082" y="2506794"/>
            <a:ext cx="3279945" cy="3140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AC372DE-5E9D-7ED1-EC42-BEA6F87F0793}"/>
              </a:ext>
            </a:extLst>
          </p:cNvPr>
          <p:cNvSpPr txBox="1"/>
          <p:nvPr/>
        </p:nvSpPr>
        <p:spPr>
          <a:xfrm>
            <a:off x="7504027" y="2347775"/>
            <a:ext cx="3667607" cy="523220"/>
          </a:xfrm>
          <a:prstGeom prst="rect">
            <a:avLst/>
          </a:prstGeom>
          <a:noFill/>
        </p:spPr>
        <p:txBody>
          <a:bodyPr wrap="none" rtlCol="0">
            <a:spAutoFit/>
          </a:bodyPr>
          <a:lstStyle/>
          <a:p>
            <a:r>
              <a:rPr lang="en-US" sz="1400" dirty="0"/>
              <a:t>Choose your favorite Gemini AI model.</a:t>
            </a:r>
          </a:p>
          <a:p>
            <a:r>
              <a:rPr lang="en-US" sz="1400" dirty="0"/>
              <a:t>Note not all models are available for free usage.</a:t>
            </a:r>
          </a:p>
        </p:txBody>
      </p:sp>
      <p:cxnSp>
        <p:nvCxnSpPr>
          <p:cNvPr id="14" name="Straight Arrow Connector 13">
            <a:extLst>
              <a:ext uri="{FF2B5EF4-FFF2-40B4-BE49-F238E27FC236}">
                <a16:creationId xmlns:a16="http://schemas.microsoft.com/office/drawing/2014/main" id="{F26BF6D6-DFBE-339E-612B-5759D9095C61}"/>
              </a:ext>
            </a:extLst>
          </p:cNvPr>
          <p:cNvCxnSpPr>
            <a:cxnSpLocks/>
            <a:stCxn id="16" idx="1"/>
          </p:cNvCxnSpPr>
          <p:nvPr/>
        </p:nvCxnSpPr>
        <p:spPr>
          <a:xfrm flipH="1" flipV="1">
            <a:off x="4760149" y="2991672"/>
            <a:ext cx="2671703" cy="1977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32B2B50-591C-8339-4B51-C76ECC74EDA4}"/>
              </a:ext>
            </a:extLst>
          </p:cNvPr>
          <p:cNvSpPr txBox="1"/>
          <p:nvPr/>
        </p:nvSpPr>
        <p:spPr>
          <a:xfrm>
            <a:off x="7431852" y="2927785"/>
            <a:ext cx="4687973" cy="523220"/>
          </a:xfrm>
          <a:prstGeom prst="rect">
            <a:avLst/>
          </a:prstGeom>
          <a:noFill/>
        </p:spPr>
        <p:txBody>
          <a:bodyPr wrap="square" rtlCol="0">
            <a:spAutoFit/>
          </a:bodyPr>
          <a:lstStyle/>
          <a:p>
            <a:r>
              <a:rPr lang="en-US" sz="1400" dirty="0"/>
              <a:t>Type the folder name or browse to the folder where you saved your Korean novel .txt files</a:t>
            </a:r>
          </a:p>
        </p:txBody>
      </p:sp>
      <p:cxnSp>
        <p:nvCxnSpPr>
          <p:cNvPr id="17" name="Straight Arrow Connector 16">
            <a:extLst>
              <a:ext uri="{FF2B5EF4-FFF2-40B4-BE49-F238E27FC236}">
                <a16:creationId xmlns:a16="http://schemas.microsoft.com/office/drawing/2014/main" id="{01E3C7E7-68B2-F1F4-C693-67B3CB90BC8F}"/>
              </a:ext>
            </a:extLst>
          </p:cNvPr>
          <p:cNvCxnSpPr>
            <a:cxnSpLocks/>
          </p:cNvCxnSpPr>
          <p:nvPr/>
        </p:nvCxnSpPr>
        <p:spPr>
          <a:xfrm flipH="1" flipV="1">
            <a:off x="4700966" y="3429000"/>
            <a:ext cx="2765891" cy="13080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73F1E34-A6EF-620D-4A3E-6BAFE5D1799C}"/>
              </a:ext>
            </a:extLst>
          </p:cNvPr>
          <p:cNvSpPr txBox="1"/>
          <p:nvPr/>
        </p:nvSpPr>
        <p:spPr>
          <a:xfrm>
            <a:off x="7466857" y="4580930"/>
            <a:ext cx="4496172" cy="1600438"/>
          </a:xfrm>
          <a:prstGeom prst="rect">
            <a:avLst/>
          </a:prstGeom>
          <a:noFill/>
        </p:spPr>
        <p:txBody>
          <a:bodyPr wrap="square" rtlCol="0">
            <a:spAutoFit/>
          </a:bodyPr>
          <a:lstStyle/>
          <a:p>
            <a:r>
              <a:rPr lang="en-US" sz="1400" dirty="0"/>
              <a:t>If you are making a glossary for a murim novel, leave this as is. If you have made a glossary manually before, you can use your own reference excel spreadsheet, but note that it must follow the same format as murim_reference.xlsx. If the novel does not belong to the murim genre and you don’t have your own glossary yet, delete the text and leave this blank</a:t>
            </a:r>
          </a:p>
        </p:txBody>
      </p:sp>
      <p:sp>
        <p:nvSpPr>
          <p:cNvPr id="20" name="Oval 19">
            <a:extLst>
              <a:ext uri="{FF2B5EF4-FFF2-40B4-BE49-F238E27FC236}">
                <a16:creationId xmlns:a16="http://schemas.microsoft.com/office/drawing/2014/main" id="{6B2C475A-398E-93C7-4EAD-1FEC1D1C24C0}"/>
              </a:ext>
            </a:extLst>
          </p:cNvPr>
          <p:cNvSpPr/>
          <p:nvPr/>
        </p:nvSpPr>
        <p:spPr>
          <a:xfrm>
            <a:off x="1286441" y="2190100"/>
            <a:ext cx="676175" cy="316694"/>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5A70545-4FD3-735A-561F-05D9F8C2E4F6}"/>
              </a:ext>
            </a:extLst>
          </p:cNvPr>
          <p:cNvSpPr txBox="1"/>
          <p:nvPr/>
        </p:nvSpPr>
        <p:spPr>
          <a:xfrm>
            <a:off x="7504027" y="3558079"/>
            <a:ext cx="4687973" cy="954107"/>
          </a:xfrm>
          <a:prstGeom prst="rect">
            <a:avLst/>
          </a:prstGeom>
          <a:noFill/>
        </p:spPr>
        <p:txBody>
          <a:bodyPr wrap="square" rtlCol="0">
            <a:spAutoFit/>
          </a:bodyPr>
          <a:lstStyle/>
          <a:p>
            <a:r>
              <a:rPr lang="en-US" sz="1400" dirty="0"/>
              <a:t>This is the base file where all glossary terms are saved. If you are continuing from a previous glossary creation (i.e. same series, new chapters), type or choose the relevant filename here. If not, type a new filename.</a:t>
            </a:r>
          </a:p>
        </p:txBody>
      </p:sp>
      <p:cxnSp>
        <p:nvCxnSpPr>
          <p:cNvPr id="21" name="Straight Arrow Connector 20">
            <a:extLst>
              <a:ext uri="{FF2B5EF4-FFF2-40B4-BE49-F238E27FC236}">
                <a16:creationId xmlns:a16="http://schemas.microsoft.com/office/drawing/2014/main" id="{EA4C6226-DA87-BB43-BFFD-DE2B35EF68F4}"/>
              </a:ext>
            </a:extLst>
          </p:cNvPr>
          <p:cNvCxnSpPr>
            <a:cxnSpLocks/>
            <a:stCxn id="15" idx="1"/>
          </p:cNvCxnSpPr>
          <p:nvPr/>
        </p:nvCxnSpPr>
        <p:spPr>
          <a:xfrm flipH="1" flipV="1">
            <a:off x="4760149" y="3217574"/>
            <a:ext cx="2743878" cy="8175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356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D8D55-E08A-6F49-D8AE-2B6531FC1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56E4A-7487-9E1E-2676-CA5E63DDA9DE}"/>
              </a:ext>
            </a:extLst>
          </p:cNvPr>
          <p:cNvSpPr>
            <a:spLocks noGrp="1"/>
          </p:cNvSpPr>
          <p:nvPr>
            <p:ph type="title"/>
          </p:nvPr>
        </p:nvSpPr>
        <p:spPr/>
        <p:txBody>
          <a:bodyPr/>
          <a:lstStyle/>
          <a:p>
            <a:r>
              <a:rPr lang="en-US" dirty="0"/>
              <a:t>instructions – Main settings tab</a:t>
            </a:r>
          </a:p>
        </p:txBody>
      </p:sp>
      <p:pic>
        <p:nvPicPr>
          <p:cNvPr id="5" name="Content Placeholder 4">
            <a:extLst>
              <a:ext uri="{FF2B5EF4-FFF2-40B4-BE49-F238E27FC236}">
                <a16:creationId xmlns:a16="http://schemas.microsoft.com/office/drawing/2014/main" id="{342D6F13-D716-E7BC-ABFD-2CAAEE6CF8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1980" y="2016125"/>
            <a:ext cx="5771232" cy="4683528"/>
          </a:xfrm>
        </p:spPr>
      </p:pic>
      <p:cxnSp>
        <p:nvCxnSpPr>
          <p:cNvPr id="7" name="Straight Arrow Connector 6">
            <a:extLst>
              <a:ext uri="{FF2B5EF4-FFF2-40B4-BE49-F238E27FC236}">
                <a16:creationId xmlns:a16="http://schemas.microsoft.com/office/drawing/2014/main" id="{21170727-2F46-C21F-CDB6-7B8BDBCF0D1B}"/>
              </a:ext>
            </a:extLst>
          </p:cNvPr>
          <p:cNvCxnSpPr>
            <a:cxnSpLocks/>
            <a:stCxn id="9" idx="1"/>
          </p:cNvCxnSpPr>
          <p:nvPr/>
        </p:nvCxnSpPr>
        <p:spPr>
          <a:xfrm flipH="1">
            <a:off x="3818175" y="2422718"/>
            <a:ext cx="3434579" cy="9527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F69EC40-F0FD-ACBC-A55E-783524DDBD67}"/>
              </a:ext>
            </a:extLst>
          </p:cNvPr>
          <p:cNvSpPr txBox="1"/>
          <p:nvPr/>
        </p:nvSpPr>
        <p:spPr>
          <a:xfrm>
            <a:off x="7252754" y="2130330"/>
            <a:ext cx="4687973" cy="584775"/>
          </a:xfrm>
          <a:prstGeom prst="rect">
            <a:avLst/>
          </a:prstGeom>
          <a:noFill/>
        </p:spPr>
        <p:txBody>
          <a:bodyPr wrap="square" rtlCol="0">
            <a:spAutoFit/>
          </a:bodyPr>
          <a:lstStyle/>
          <a:p>
            <a:r>
              <a:rPr lang="en-US" sz="1600" dirty="0"/>
              <a:t>Type your desired glossary file name here. Make sure it ends with .xlsx</a:t>
            </a:r>
          </a:p>
        </p:txBody>
      </p:sp>
      <p:cxnSp>
        <p:nvCxnSpPr>
          <p:cNvPr id="4" name="Straight Arrow Connector 3">
            <a:extLst>
              <a:ext uri="{FF2B5EF4-FFF2-40B4-BE49-F238E27FC236}">
                <a16:creationId xmlns:a16="http://schemas.microsoft.com/office/drawing/2014/main" id="{863F30C2-AB7F-2273-8F8C-6900B6F7A063}"/>
              </a:ext>
            </a:extLst>
          </p:cNvPr>
          <p:cNvCxnSpPr>
            <a:cxnSpLocks/>
          </p:cNvCxnSpPr>
          <p:nvPr/>
        </p:nvCxnSpPr>
        <p:spPr>
          <a:xfrm flipH="1">
            <a:off x="3140925" y="3113420"/>
            <a:ext cx="4143052" cy="5170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6DAFE1D-A41A-63D6-35E4-5EB050B3D746}"/>
              </a:ext>
            </a:extLst>
          </p:cNvPr>
          <p:cNvSpPr txBox="1"/>
          <p:nvPr/>
        </p:nvSpPr>
        <p:spPr>
          <a:xfrm>
            <a:off x="7283976" y="2850036"/>
            <a:ext cx="4647830" cy="1815882"/>
          </a:xfrm>
          <a:prstGeom prst="rect">
            <a:avLst/>
          </a:prstGeom>
          <a:noFill/>
        </p:spPr>
        <p:txBody>
          <a:bodyPr wrap="square" rtlCol="0">
            <a:spAutoFit/>
          </a:bodyPr>
          <a:lstStyle/>
          <a:p>
            <a:r>
              <a:rPr lang="en-US" sz="1600" dirty="0"/>
              <a:t>Select the genre of your novel. We have:</a:t>
            </a:r>
            <a:br>
              <a:rPr lang="en-US" sz="1600" dirty="0"/>
            </a:br>
            <a:r>
              <a:rPr lang="en-US" sz="1600" dirty="0">
                <a:solidFill>
                  <a:srgbClr val="FF0000"/>
                </a:solidFill>
              </a:rPr>
              <a:t>murim</a:t>
            </a:r>
            <a:r>
              <a:rPr lang="en-US" sz="1600" dirty="0"/>
              <a:t>: Chinese martial arts novel</a:t>
            </a:r>
          </a:p>
          <a:p>
            <a:r>
              <a:rPr lang="en-US" sz="1600" dirty="0" err="1">
                <a:solidFill>
                  <a:srgbClr val="FF0000"/>
                </a:solidFill>
              </a:rPr>
              <a:t>rofan</a:t>
            </a:r>
            <a:r>
              <a:rPr lang="en-US" sz="1600" dirty="0"/>
              <a:t>: romance fantasy novel</a:t>
            </a:r>
          </a:p>
          <a:p>
            <a:r>
              <a:rPr lang="en-US" sz="1600" dirty="0">
                <a:solidFill>
                  <a:srgbClr val="FF0000"/>
                </a:solidFill>
              </a:rPr>
              <a:t>modern</a:t>
            </a:r>
            <a:r>
              <a:rPr lang="en-US" sz="1600" dirty="0"/>
              <a:t>: modern day novel</a:t>
            </a:r>
          </a:p>
          <a:p>
            <a:r>
              <a:rPr lang="en-US" sz="1600" dirty="0">
                <a:solidFill>
                  <a:srgbClr val="FF0000"/>
                </a:solidFill>
              </a:rPr>
              <a:t>game</a:t>
            </a:r>
            <a:r>
              <a:rPr lang="en-US" sz="1600" dirty="0"/>
              <a:t>: MMO/VRMMO novel or system novel</a:t>
            </a:r>
          </a:p>
          <a:p>
            <a:r>
              <a:rPr lang="en-US" sz="1600" dirty="0" err="1">
                <a:solidFill>
                  <a:srgbClr val="FF0000"/>
                </a:solidFill>
              </a:rPr>
              <a:t>westfan</a:t>
            </a:r>
            <a:r>
              <a:rPr lang="en-US" sz="1600" dirty="0"/>
              <a:t>: western fantasy novel</a:t>
            </a:r>
          </a:p>
          <a:p>
            <a:r>
              <a:rPr lang="en-US" sz="1600" dirty="0">
                <a:solidFill>
                  <a:srgbClr val="FF0000"/>
                </a:solidFill>
              </a:rPr>
              <a:t>dungeon</a:t>
            </a:r>
            <a:r>
              <a:rPr lang="en-US" sz="1600" dirty="0"/>
              <a:t>: modern day novel with dungeons or towers</a:t>
            </a:r>
          </a:p>
        </p:txBody>
      </p:sp>
    </p:spTree>
    <p:extLst>
      <p:ext uri="{BB962C8B-B14F-4D97-AF65-F5344CB8AC3E}">
        <p14:creationId xmlns:p14="http://schemas.microsoft.com/office/powerpoint/2010/main" val="2201105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58E47-5055-D7B8-6D4E-E41586E24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93A5A-279F-9EE4-D141-690907206D8F}"/>
              </a:ext>
            </a:extLst>
          </p:cNvPr>
          <p:cNvSpPr>
            <a:spLocks noGrp="1"/>
          </p:cNvSpPr>
          <p:nvPr>
            <p:ph type="title"/>
          </p:nvPr>
        </p:nvSpPr>
        <p:spPr/>
        <p:txBody>
          <a:bodyPr/>
          <a:lstStyle/>
          <a:p>
            <a:r>
              <a:rPr lang="en-US" dirty="0"/>
              <a:t>instructions – Main settings tab</a:t>
            </a:r>
          </a:p>
        </p:txBody>
      </p:sp>
      <p:pic>
        <p:nvPicPr>
          <p:cNvPr id="5" name="Content Placeholder 4">
            <a:extLst>
              <a:ext uri="{FF2B5EF4-FFF2-40B4-BE49-F238E27FC236}">
                <a16:creationId xmlns:a16="http://schemas.microsoft.com/office/drawing/2014/main" id="{DDF0FED1-40F8-4EB2-C78E-ACED9C8210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1980" y="2016125"/>
            <a:ext cx="5771232" cy="4683528"/>
          </a:xfrm>
        </p:spPr>
      </p:pic>
      <p:cxnSp>
        <p:nvCxnSpPr>
          <p:cNvPr id="7" name="Straight Arrow Connector 6">
            <a:extLst>
              <a:ext uri="{FF2B5EF4-FFF2-40B4-BE49-F238E27FC236}">
                <a16:creationId xmlns:a16="http://schemas.microsoft.com/office/drawing/2014/main" id="{53BF85C1-3B02-8AAD-1C80-9315941FCE1C}"/>
              </a:ext>
            </a:extLst>
          </p:cNvPr>
          <p:cNvCxnSpPr>
            <a:cxnSpLocks/>
            <a:stCxn id="9" idx="1"/>
          </p:cNvCxnSpPr>
          <p:nvPr/>
        </p:nvCxnSpPr>
        <p:spPr>
          <a:xfrm flipH="1">
            <a:off x="3479180" y="2422718"/>
            <a:ext cx="3773574" cy="1538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EC1F834-27EF-6565-47E4-623862075329}"/>
              </a:ext>
            </a:extLst>
          </p:cNvPr>
          <p:cNvSpPr txBox="1"/>
          <p:nvPr/>
        </p:nvSpPr>
        <p:spPr>
          <a:xfrm>
            <a:off x="7252754" y="2130330"/>
            <a:ext cx="4687973" cy="584775"/>
          </a:xfrm>
          <a:prstGeom prst="rect">
            <a:avLst/>
          </a:prstGeom>
          <a:noFill/>
        </p:spPr>
        <p:txBody>
          <a:bodyPr wrap="square" rtlCol="0">
            <a:spAutoFit/>
          </a:bodyPr>
          <a:lstStyle/>
          <a:p>
            <a:r>
              <a:rPr lang="en-US" sz="1600" dirty="0"/>
              <a:t>Check this only if your novel has hanja in brackets next to hangul</a:t>
            </a:r>
          </a:p>
        </p:txBody>
      </p:sp>
      <p:cxnSp>
        <p:nvCxnSpPr>
          <p:cNvPr id="4" name="Straight Arrow Connector 3">
            <a:extLst>
              <a:ext uri="{FF2B5EF4-FFF2-40B4-BE49-F238E27FC236}">
                <a16:creationId xmlns:a16="http://schemas.microsoft.com/office/drawing/2014/main" id="{C68AB0B9-35D1-BEC9-BE05-99890F10F399}"/>
              </a:ext>
            </a:extLst>
          </p:cNvPr>
          <p:cNvCxnSpPr>
            <a:cxnSpLocks/>
          </p:cNvCxnSpPr>
          <p:nvPr/>
        </p:nvCxnSpPr>
        <p:spPr>
          <a:xfrm flipH="1">
            <a:off x="3490702" y="3191815"/>
            <a:ext cx="3730828" cy="9357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D32A799-2607-F6B9-7DC5-23BA19FBC920}"/>
              </a:ext>
            </a:extLst>
          </p:cNvPr>
          <p:cNvSpPr txBox="1"/>
          <p:nvPr/>
        </p:nvSpPr>
        <p:spPr>
          <a:xfrm>
            <a:off x="7292897" y="2948167"/>
            <a:ext cx="4647830" cy="584775"/>
          </a:xfrm>
          <a:prstGeom prst="rect">
            <a:avLst/>
          </a:prstGeom>
          <a:noFill/>
        </p:spPr>
        <p:txBody>
          <a:bodyPr wrap="square" rtlCol="0">
            <a:spAutoFit/>
          </a:bodyPr>
          <a:lstStyle/>
          <a:p>
            <a:r>
              <a:rPr lang="en-US" sz="1600" dirty="0"/>
              <a:t>Not all glossary terms identified will have hanja. Check this if you want AI to guess the hanja</a:t>
            </a:r>
          </a:p>
        </p:txBody>
      </p:sp>
      <p:cxnSp>
        <p:nvCxnSpPr>
          <p:cNvPr id="10" name="Straight Arrow Connector 9">
            <a:extLst>
              <a:ext uri="{FF2B5EF4-FFF2-40B4-BE49-F238E27FC236}">
                <a16:creationId xmlns:a16="http://schemas.microsoft.com/office/drawing/2014/main" id="{868F09BC-7BA9-D30A-C612-E63AEF786A4B}"/>
              </a:ext>
            </a:extLst>
          </p:cNvPr>
          <p:cNvCxnSpPr>
            <a:cxnSpLocks/>
          </p:cNvCxnSpPr>
          <p:nvPr/>
        </p:nvCxnSpPr>
        <p:spPr>
          <a:xfrm flipH="1">
            <a:off x="3521926" y="3960913"/>
            <a:ext cx="3711126" cy="2923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B35F3-2B4A-F210-159D-46B470FB3652}"/>
              </a:ext>
            </a:extLst>
          </p:cNvPr>
          <p:cNvSpPr txBox="1"/>
          <p:nvPr/>
        </p:nvSpPr>
        <p:spPr>
          <a:xfrm>
            <a:off x="7283978" y="3754709"/>
            <a:ext cx="4687973" cy="584775"/>
          </a:xfrm>
          <a:prstGeom prst="rect">
            <a:avLst/>
          </a:prstGeom>
          <a:noFill/>
        </p:spPr>
        <p:txBody>
          <a:bodyPr wrap="square" rtlCol="0">
            <a:spAutoFit/>
          </a:bodyPr>
          <a:lstStyle/>
          <a:p>
            <a:r>
              <a:rPr lang="en-US" sz="1600" dirty="0"/>
              <a:t>Check this if your novel has hanja, you asked AI to guess the hanja, AND you can read Chinese</a:t>
            </a:r>
          </a:p>
        </p:txBody>
      </p:sp>
      <p:cxnSp>
        <p:nvCxnSpPr>
          <p:cNvPr id="13" name="Straight Arrow Connector 12">
            <a:extLst>
              <a:ext uri="{FF2B5EF4-FFF2-40B4-BE49-F238E27FC236}">
                <a16:creationId xmlns:a16="http://schemas.microsoft.com/office/drawing/2014/main" id="{321C65CE-F847-9014-51FA-9CF0957DEC36}"/>
              </a:ext>
            </a:extLst>
          </p:cNvPr>
          <p:cNvCxnSpPr>
            <a:cxnSpLocks/>
            <a:stCxn id="15" idx="1"/>
          </p:cNvCxnSpPr>
          <p:nvPr/>
        </p:nvCxnSpPr>
        <p:spPr>
          <a:xfrm flipH="1">
            <a:off x="1831400" y="4695869"/>
            <a:ext cx="5461497" cy="17389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B0FB382-3620-BD5E-2335-F2457A087D02}"/>
              </a:ext>
            </a:extLst>
          </p:cNvPr>
          <p:cNvSpPr txBox="1"/>
          <p:nvPr/>
        </p:nvSpPr>
        <p:spPr>
          <a:xfrm>
            <a:off x="7292897" y="4526592"/>
            <a:ext cx="4687973" cy="338554"/>
          </a:xfrm>
          <a:prstGeom prst="rect">
            <a:avLst/>
          </a:prstGeom>
          <a:noFill/>
        </p:spPr>
        <p:txBody>
          <a:bodyPr wrap="square" rtlCol="0">
            <a:spAutoFit/>
          </a:bodyPr>
          <a:lstStyle/>
          <a:p>
            <a:r>
              <a:rPr lang="en-US" sz="1600" dirty="0"/>
              <a:t>Click this to save your current settings as default</a:t>
            </a:r>
          </a:p>
        </p:txBody>
      </p:sp>
      <p:cxnSp>
        <p:nvCxnSpPr>
          <p:cNvPr id="17" name="Straight Arrow Connector 16">
            <a:extLst>
              <a:ext uri="{FF2B5EF4-FFF2-40B4-BE49-F238E27FC236}">
                <a16:creationId xmlns:a16="http://schemas.microsoft.com/office/drawing/2014/main" id="{75CA736D-BB56-F833-7734-FD599118FA83}"/>
              </a:ext>
            </a:extLst>
          </p:cNvPr>
          <p:cNvCxnSpPr>
            <a:cxnSpLocks/>
          </p:cNvCxnSpPr>
          <p:nvPr/>
        </p:nvCxnSpPr>
        <p:spPr>
          <a:xfrm flipH="1">
            <a:off x="2701938" y="5379088"/>
            <a:ext cx="4582040" cy="10130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215C5DD-0EC7-CCAF-5E59-4A5B0EC05385}"/>
              </a:ext>
            </a:extLst>
          </p:cNvPr>
          <p:cNvCxnSpPr>
            <a:cxnSpLocks/>
          </p:cNvCxnSpPr>
          <p:nvPr/>
        </p:nvCxnSpPr>
        <p:spPr>
          <a:xfrm flipH="1">
            <a:off x="3581772" y="5379088"/>
            <a:ext cx="3711125" cy="11010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660BA04-766B-D6A6-A202-6105185D5D8E}"/>
              </a:ext>
            </a:extLst>
          </p:cNvPr>
          <p:cNvSpPr txBox="1"/>
          <p:nvPr/>
        </p:nvSpPr>
        <p:spPr>
          <a:xfrm>
            <a:off x="7292897" y="5020408"/>
            <a:ext cx="4687973" cy="830997"/>
          </a:xfrm>
          <a:prstGeom prst="rect">
            <a:avLst/>
          </a:prstGeom>
          <a:noFill/>
        </p:spPr>
        <p:txBody>
          <a:bodyPr wrap="square" rtlCol="0">
            <a:spAutoFit/>
          </a:bodyPr>
          <a:lstStyle/>
          <a:p>
            <a:r>
              <a:rPr lang="en-US" sz="1600" dirty="0"/>
              <a:t>Click these to save your current settings as a new custom config file, or load a custom config file that you saved previously</a:t>
            </a:r>
          </a:p>
        </p:txBody>
      </p:sp>
    </p:spTree>
    <p:extLst>
      <p:ext uri="{BB962C8B-B14F-4D97-AF65-F5344CB8AC3E}">
        <p14:creationId xmlns:p14="http://schemas.microsoft.com/office/powerpoint/2010/main" val="38062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CACE-0E73-AB69-A2FD-629F09FC1B44}"/>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0B910940-5C73-3C03-E679-AE63A5DF5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978" y="2016125"/>
            <a:ext cx="5771231" cy="4683526"/>
          </a:xfrm>
          <a:prstGeom prst="rect">
            <a:avLst/>
          </a:prstGeom>
        </p:spPr>
      </p:pic>
      <p:sp>
        <p:nvSpPr>
          <p:cNvPr id="2" name="Title 1">
            <a:extLst>
              <a:ext uri="{FF2B5EF4-FFF2-40B4-BE49-F238E27FC236}">
                <a16:creationId xmlns:a16="http://schemas.microsoft.com/office/drawing/2014/main" id="{E5465DE7-2475-E218-D04C-9189BB3D813E}"/>
              </a:ext>
            </a:extLst>
          </p:cNvPr>
          <p:cNvSpPr>
            <a:spLocks noGrp="1"/>
          </p:cNvSpPr>
          <p:nvPr>
            <p:ph type="title"/>
          </p:nvPr>
        </p:nvSpPr>
        <p:spPr/>
        <p:txBody>
          <a:bodyPr/>
          <a:lstStyle/>
          <a:p>
            <a:r>
              <a:rPr lang="en-US" dirty="0"/>
              <a:t>Instructions – AI settings tab</a:t>
            </a:r>
          </a:p>
        </p:txBody>
      </p:sp>
      <p:sp>
        <p:nvSpPr>
          <p:cNvPr id="9" name="TextBox 8">
            <a:extLst>
              <a:ext uri="{FF2B5EF4-FFF2-40B4-BE49-F238E27FC236}">
                <a16:creationId xmlns:a16="http://schemas.microsoft.com/office/drawing/2014/main" id="{7A0AD326-DF29-05C9-EE37-5D0611369E4B}"/>
              </a:ext>
            </a:extLst>
          </p:cNvPr>
          <p:cNvSpPr txBox="1"/>
          <p:nvPr/>
        </p:nvSpPr>
        <p:spPr>
          <a:xfrm>
            <a:off x="7248450" y="2074243"/>
            <a:ext cx="4687973" cy="3970318"/>
          </a:xfrm>
          <a:prstGeom prst="rect">
            <a:avLst/>
          </a:prstGeom>
          <a:noFill/>
        </p:spPr>
        <p:txBody>
          <a:bodyPr wrap="square" rtlCol="0">
            <a:spAutoFit/>
          </a:bodyPr>
          <a:lstStyle/>
          <a:p>
            <a:r>
              <a:rPr lang="en-US" sz="1400" dirty="0"/>
              <a:t>Increase these numbers if you wish to use fewer AI credits and save money</a:t>
            </a:r>
          </a:p>
          <a:p>
            <a:r>
              <a:rPr lang="en-US" sz="1400" dirty="0"/>
              <a:t>Decrease these numbers if you keep seeing the MAX_TOKEN error in the output, or your output file looks strangely truncated</a:t>
            </a:r>
          </a:p>
          <a:p>
            <a:endParaRPr lang="en-US" sz="1400" dirty="0"/>
          </a:p>
          <a:p>
            <a:r>
              <a:rPr lang="en-US" sz="1400" dirty="0"/>
              <a:t>Number of Chapters Analyzed Simultaneously: How many novel chapters are analyzed at the same time. Decrease this if the novel chapters are long.</a:t>
            </a:r>
          </a:p>
          <a:p>
            <a:endParaRPr lang="en-US" sz="1400" dirty="0"/>
          </a:p>
          <a:p>
            <a:r>
              <a:rPr lang="en-US" sz="1400" dirty="0"/>
              <a:t>Categorization Batch Size: How many nouns are put into categories (names, locations, items) at the same time</a:t>
            </a:r>
          </a:p>
          <a:p>
            <a:endParaRPr lang="en-US" sz="1400" dirty="0"/>
          </a:p>
          <a:p>
            <a:r>
              <a:rPr lang="en-US" sz="1400" dirty="0"/>
              <a:t>Translation Batch Size: How many nouns are translated at the same time</a:t>
            </a:r>
          </a:p>
          <a:p>
            <a:endParaRPr lang="en-US" sz="1400" dirty="0"/>
          </a:p>
          <a:p>
            <a:r>
              <a:rPr lang="en-US" sz="1400" dirty="0"/>
              <a:t>Hanja Guessing Batch Size: How many nouns are submitted for hanja guessing at the same time (if enabled)</a:t>
            </a:r>
          </a:p>
        </p:txBody>
      </p:sp>
      <p:cxnSp>
        <p:nvCxnSpPr>
          <p:cNvPr id="14" name="Straight Arrow Connector 13">
            <a:extLst>
              <a:ext uri="{FF2B5EF4-FFF2-40B4-BE49-F238E27FC236}">
                <a16:creationId xmlns:a16="http://schemas.microsoft.com/office/drawing/2014/main" id="{375604E9-EE71-8BAD-D506-4B34061B0402}"/>
              </a:ext>
            </a:extLst>
          </p:cNvPr>
          <p:cNvCxnSpPr>
            <a:cxnSpLocks/>
          </p:cNvCxnSpPr>
          <p:nvPr/>
        </p:nvCxnSpPr>
        <p:spPr>
          <a:xfrm flipH="1" flipV="1">
            <a:off x="3379175" y="3552855"/>
            <a:ext cx="1200725" cy="8050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01A4F59-AA38-0309-93D4-F4D253D9DDA2}"/>
              </a:ext>
            </a:extLst>
          </p:cNvPr>
          <p:cNvCxnSpPr>
            <a:cxnSpLocks/>
          </p:cNvCxnSpPr>
          <p:nvPr/>
        </p:nvCxnSpPr>
        <p:spPr>
          <a:xfrm flipH="1" flipV="1">
            <a:off x="3448746" y="3333116"/>
            <a:ext cx="1092031" cy="1696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85826EDA-9E4D-12BE-1858-6D52E4CF0A11}"/>
              </a:ext>
            </a:extLst>
          </p:cNvPr>
          <p:cNvSpPr/>
          <p:nvPr/>
        </p:nvSpPr>
        <p:spPr>
          <a:xfrm>
            <a:off x="1736945" y="2190100"/>
            <a:ext cx="676175" cy="316694"/>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2B32EAA3-D3E4-CCE2-CD5C-E82359C610EE}"/>
              </a:ext>
            </a:extLst>
          </p:cNvPr>
          <p:cNvSpPr/>
          <p:nvPr/>
        </p:nvSpPr>
        <p:spPr>
          <a:xfrm>
            <a:off x="3608525" y="2578165"/>
            <a:ext cx="441589" cy="584775"/>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52DEDFB-7ECE-3427-26AB-C7CBF0FF1976}"/>
              </a:ext>
            </a:extLst>
          </p:cNvPr>
          <p:cNvCxnSpPr>
            <a:cxnSpLocks/>
            <a:stCxn id="12" idx="1"/>
          </p:cNvCxnSpPr>
          <p:nvPr/>
        </p:nvCxnSpPr>
        <p:spPr>
          <a:xfrm>
            <a:off x="4050114" y="2870553"/>
            <a:ext cx="31223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10DD72E-7E6F-95B6-7C55-878DB12A5E90}"/>
              </a:ext>
            </a:extLst>
          </p:cNvPr>
          <p:cNvSpPr txBox="1"/>
          <p:nvPr/>
        </p:nvSpPr>
        <p:spPr>
          <a:xfrm>
            <a:off x="4579900" y="3210404"/>
            <a:ext cx="1636851" cy="738664"/>
          </a:xfrm>
          <a:prstGeom prst="rect">
            <a:avLst/>
          </a:prstGeom>
          <a:noFill/>
        </p:spPr>
        <p:txBody>
          <a:bodyPr wrap="square" rtlCol="0">
            <a:spAutoFit/>
          </a:bodyPr>
          <a:lstStyle/>
          <a:p>
            <a:r>
              <a:rPr lang="en-US" sz="1400" dirty="0"/>
              <a:t>How many times to retry when you run into an AI error</a:t>
            </a:r>
          </a:p>
        </p:txBody>
      </p:sp>
      <p:sp>
        <p:nvSpPr>
          <p:cNvPr id="27" name="TextBox 26">
            <a:extLst>
              <a:ext uri="{FF2B5EF4-FFF2-40B4-BE49-F238E27FC236}">
                <a16:creationId xmlns:a16="http://schemas.microsoft.com/office/drawing/2014/main" id="{29BA8073-42FF-51C6-6968-B20B2032F9C8}"/>
              </a:ext>
            </a:extLst>
          </p:cNvPr>
          <p:cNvSpPr txBox="1"/>
          <p:nvPr/>
        </p:nvSpPr>
        <p:spPr>
          <a:xfrm>
            <a:off x="4576223" y="4292945"/>
            <a:ext cx="2150195" cy="1384995"/>
          </a:xfrm>
          <a:prstGeom prst="rect">
            <a:avLst/>
          </a:prstGeom>
          <a:noFill/>
        </p:spPr>
        <p:txBody>
          <a:bodyPr wrap="square" rtlCol="0">
            <a:spAutoFit/>
          </a:bodyPr>
          <a:lstStyle/>
          <a:p>
            <a:r>
              <a:rPr lang="en-US" sz="1400" dirty="0"/>
              <a:t>If you are on a billing account (i.e. paying money for the </a:t>
            </a:r>
            <a:r>
              <a:rPr lang="en-US" sz="1400" dirty="0" err="1"/>
              <a:t>gemini</a:t>
            </a:r>
            <a:r>
              <a:rPr lang="en-US" sz="1400" dirty="0"/>
              <a:t> </a:t>
            </a:r>
            <a:r>
              <a:rPr lang="en-US" sz="1400" dirty="0" err="1"/>
              <a:t>api</a:t>
            </a:r>
            <a:r>
              <a:rPr lang="en-US" sz="1400" dirty="0"/>
              <a:t>), you can decrease this to 1 second. If you are on a free account, leave as is.</a:t>
            </a:r>
          </a:p>
        </p:txBody>
      </p:sp>
    </p:spTree>
    <p:extLst>
      <p:ext uri="{BB962C8B-B14F-4D97-AF65-F5344CB8AC3E}">
        <p14:creationId xmlns:p14="http://schemas.microsoft.com/office/powerpoint/2010/main" val="1780817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B6859-9302-3E13-30E4-6FAD9A6AFF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C54F58-7E70-3B06-62FD-61F4C3FCC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978" y="2016125"/>
            <a:ext cx="5771231" cy="4683527"/>
          </a:xfrm>
          <a:prstGeom prst="rect">
            <a:avLst/>
          </a:prstGeom>
        </p:spPr>
      </p:pic>
      <p:sp>
        <p:nvSpPr>
          <p:cNvPr id="2" name="Title 1">
            <a:extLst>
              <a:ext uri="{FF2B5EF4-FFF2-40B4-BE49-F238E27FC236}">
                <a16:creationId xmlns:a16="http://schemas.microsoft.com/office/drawing/2014/main" id="{2E61FE54-1A00-6BE8-5CA8-4872799E92DE}"/>
              </a:ext>
            </a:extLst>
          </p:cNvPr>
          <p:cNvSpPr>
            <a:spLocks noGrp="1"/>
          </p:cNvSpPr>
          <p:nvPr>
            <p:ph type="title"/>
          </p:nvPr>
        </p:nvSpPr>
        <p:spPr/>
        <p:txBody>
          <a:bodyPr/>
          <a:lstStyle/>
          <a:p>
            <a:r>
              <a:rPr lang="en-US" dirty="0"/>
              <a:t>Instructions – Log Output tab</a:t>
            </a:r>
          </a:p>
        </p:txBody>
      </p:sp>
      <p:sp>
        <p:nvSpPr>
          <p:cNvPr id="9" name="TextBox 8">
            <a:extLst>
              <a:ext uri="{FF2B5EF4-FFF2-40B4-BE49-F238E27FC236}">
                <a16:creationId xmlns:a16="http://schemas.microsoft.com/office/drawing/2014/main" id="{84083B86-77C3-6330-091F-4B25316A7A36}"/>
              </a:ext>
            </a:extLst>
          </p:cNvPr>
          <p:cNvSpPr txBox="1"/>
          <p:nvPr/>
        </p:nvSpPr>
        <p:spPr>
          <a:xfrm>
            <a:off x="7525000" y="2899434"/>
            <a:ext cx="3849244" cy="1815882"/>
          </a:xfrm>
          <a:prstGeom prst="rect">
            <a:avLst/>
          </a:prstGeom>
          <a:noFill/>
        </p:spPr>
        <p:txBody>
          <a:bodyPr wrap="square" rtlCol="0">
            <a:spAutoFit/>
          </a:bodyPr>
          <a:lstStyle/>
          <a:p>
            <a:r>
              <a:rPr lang="en-US" sz="2800" dirty="0"/>
              <a:t>Observe your glossary making progress</a:t>
            </a:r>
          </a:p>
          <a:p>
            <a:endParaRPr lang="en-US" sz="2800" dirty="0"/>
          </a:p>
          <a:p>
            <a:r>
              <a:rPr lang="en-US" sz="2800" dirty="0"/>
              <a:t>Watch out for errors</a:t>
            </a:r>
          </a:p>
        </p:txBody>
      </p:sp>
      <p:cxnSp>
        <p:nvCxnSpPr>
          <p:cNvPr id="17" name="Straight Arrow Connector 16">
            <a:extLst>
              <a:ext uri="{FF2B5EF4-FFF2-40B4-BE49-F238E27FC236}">
                <a16:creationId xmlns:a16="http://schemas.microsoft.com/office/drawing/2014/main" id="{19C7E831-4C1C-274C-1145-31C13B7E9A79}"/>
              </a:ext>
            </a:extLst>
          </p:cNvPr>
          <p:cNvCxnSpPr>
            <a:cxnSpLocks/>
          </p:cNvCxnSpPr>
          <p:nvPr/>
        </p:nvCxnSpPr>
        <p:spPr>
          <a:xfrm flipH="1" flipV="1">
            <a:off x="6325761" y="3028700"/>
            <a:ext cx="1092031" cy="1696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54CE9607-21EE-FF33-EC2C-AC76B5F8F32A}"/>
              </a:ext>
            </a:extLst>
          </p:cNvPr>
          <p:cNvSpPr/>
          <p:nvPr/>
        </p:nvSpPr>
        <p:spPr>
          <a:xfrm>
            <a:off x="2174074" y="2176718"/>
            <a:ext cx="676175" cy="316694"/>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432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EDDD-8BAD-C5F2-900B-190F9B777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AB6AB-9198-CDF6-CF78-934AB6884E4D}"/>
              </a:ext>
            </a:extLst>
          </p:cNvPr>
          <p:cNvSpPr>
            <a:spLocks noGrp="1"/>
          </p:cNvSpPr>
          <p:nvPr>
            <p:ph type="title"/>
          </p:nvPr>
        </p:nvSpPr>
        <p:spPr/>
        <p:txBody>
          <a:bodyPr/>
          <a:lstStyle/>
          <a:p>
            <a:r>
              <a:rPr lang="en-US" dirty="0"/>
              <a:t>PIPELINE COMPLETED SUCCESSFULLY!</a:t>
            </a:r>
          </a:p>
        </p:txBody>
      </p:sp>
      <p:sp>
        <p:nvSpPr>
          <p:cNvPr id="3" name="Content Placeholder 2">
            <a:extLst>
              <a:ext uri="{FF2B5EF4-FFF2-40B4-BE49-F238E27FC236}">
                <a16:creationId xmlns:a16="http://schemas.microsoft.com/office/drawing/2014/main" id="{93DFB5E5-C4AF-5B6A-25A6-4A4FB0022572}"/>
              </a:ext>
            </a:extLst>
          </p:cNvPr>
          <p:cNvSpPr>
            <a:spLocks noGrp="1"/>
          </p:cNvSpPr>
          <p:nvPr>
            <p:ph idx="1"/>
          </p:nvPr>
        </p:nvSpPr>
        <p:spPr>
          <a:xfrm>
            <a:off x="1451579" y="2015732"/>
            <a:ext cx="9603275" cy="4072834"/>
          </a:xfrm>
        </p:spPr>
        <p:txBody>
          <a:bodyPr>
            <a:normAutofit lnSpcReduction="10000"/>
          </a:bodyPr>
          <a:lstStyle/>
          <a:p>
            <a:r>
              <a:rPr lang="en-US" dirty="0"/>
              <a:t>You should see a file named </a:t>
            </a:r>
            <a:r>
              <a:rPr lang="en-US" dirty="0" err="1">
                <a:solidFill>
                  <a:srgbClr val="FF0000"/>
                </a:solidFill>
              </a:rPr>
              <a:t>nouns.json</a:t>
            </a:r>
            <a:r>
              <a:rPr lang="en-US" dirty="0"/>
              <a:t> in the folder. If you wish to continue adding nouns to the same novel (e.g. you made a glossary for chapters 1-10, and now you’re updating it for chapters 11-20), this file will be necessary.</a:t>
            </a:r>
          </a:p>
          <a:p>
            <a:r>
              <a:rPr lang="en-US" dirty="0" err="1"/>
              <a:t>nouns.json</a:t>
            </a:r>
            <a:r>
              <a:rPr lang="en-US" dirty="0"/>
              <a:t> will be </a:t>
            </a:r>
            <a:r>
              <a:rPr lang="en-US" dirty="0">
                <a:solidFill>
                  <a:srgbClr val="FF0000"/>
                </a:solidFill>
              </a:rPr>
              <a:t>overwritten</a:t>
            </a:r>
            <a:r>
              <a:rPr lang="en-US" dirty="0"/>
              <a:t> whenever you run the code, so if you are working on multiple novels, remember to </a:t>
            </a:r>
            <a:r>
              <a:rPr lang="en-US" dirty="0">
                <a:solidFill>
                  <a:srgbClr val="FF0000"/>
                </a:solidFill>
              </a:rPr>
              <a:t>BACKUP</a:t>
            </a:r>
            <a:r>
              <a:rPr lang="en-US" dirty="0"/>
              <a:t> this file.</a:t>
            </a:r>
          </a:p>
          <a:p>
            <a:r>
              <a:rPr lang="en-US" dirty="0"/>
              <a:t>You should also see </a:t>
            </a:r>
            <a:r>
              <a:rPr lang="en-US" dirty="0">
                <a:solidFill>
                  <a:srgbClr val="FF0000"/>
                </a:solidFill>
              </a:rPr>
              <a:t>two new excel spreadsheets</a:t>
            </a:r>
            <a:r>
              <a:rPr lang="en-US" dirty="0"/>
              <a:t>. One of them has the terms in different categories in separate worksheets for easier visualization, while the other has every term on ONE worksheet for easier MTL-</a:t>
            </a:r>
            <a:r>
              <a:rPr lang="en-US" dirty="0" err="1"/>
              <a:t>ing</a:t>
            </a:r>
            <a:r>
              <a:rPr lang="en-US" dirty="0"/>
              <a:t>.</a:t>
            </a:r>
          </a:p>
          <a:p>
            <a:r>
              <a:rPr lang="en-US" dirty="0"/>
              <a:t>You probably want to </a:t>
            </a:r>
            <a:r>
              <a:rPr lang="en-US" dirty="0">
                <a:solidFill>
                  <a:srgbClr val="FF0000"/>
                </a:solidFill>
              </a:rPr>
              <a:t>check</a:t>
            </a:r>
            <a:r>
              <a:rPr lang="en-US" dirty="0"/>
              <a:t> the generated glossary spreadsheets manually and change any mis-translated terms and names. AI is stupid, it happens.</a:t>
            </a:r>
          </a:p>
        </p:txBody>
      </p:sp>
    </p:spTree>
    <p:extLst>
      <p:ext uri="{BB962C8B-B14F-4D97-AF65-F5344CB8AC3E}">
        <p14:creationId xmlns:p14="http://schemas.microsoft.com/office/powerpoint/2010/main" val="171950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9C7D-C6CB-B2FD-4C44-10FEA83842CA}"/>
              </a:ext>
            </a:extLst>
          </p:cNvPr>
          <p:cNvSpPr>
            <a:spLocks noGrp="1"/>
          </p:cNvSpPr>
          <p:nvPr>
            <p:ph type="ctrTitle"/>
          </p:nvPr>
        </p:nvSpPr>
        <p:spPr/>
        <p:txBody>
          <a:bodyPr/>
          <a:lstStyle/>
          <a:p>
            <a:r>
              <a:rPr lang="en-US" dirty="0"/>
              <a:t>Happy MTL-</a:t>
            </a:r>
            <a:r>
              <a:rPr lang="en-US" dirty="0" err="1"/>
              <a:t>ing</a:t>
            </a:r>
            <a:r>
              <a:rPr lang="en-US" dirty="0"/>
              <a:t>!</a:t>
            </a:r>
          </a:p>
        </p:txBody>
      </p:sp>
      <p:sp>
        <p:nvSpPr>
          <p:cNvPr id="3" name="Subtitle 2">
            <a:extLst>
              <a:ext uri="{FF2B5EF4-FFF2-40B4-BE49-F238E27FC236}">
                <a16:creationId xmlns:a16="http://schemas.microsoft.com/office/drawing/2014/main" id="{C2219C6B-2171-2FF3-B680-CDA98D3A16B5}"/>
              </a:ext>
            </a:extLst>
          </p:cNvPr>
          <p:cNvSpPr>
            <a:spLocks noGrp="1"/>
          </p:cNvSpPr>
          <p:nvPr>
            <p:ph type="subTitle" idx="1"/>
          </p:nvPr>
        </p:nvSpPr>
        <p:spPr/>
        <p:txBody>
          <a:bodyPr/>
          <a:lstStyle/>
          <a:p>
            <a:r>
              <a:rPr lang="en-US" dirty="0"/>
              <a:t>Credits: foodiemonster007</a:t>
            </a:r>
          </a:p>
        </p:txBody>
      </p:sp>
    </p:spTree>
    <p:extLst>
      <p:ext uri="{BB962C8B-B14F-4D97-AF65-F5344CB8AC3E}">
        <p14:creationId xmlns:p14="http://schemas.microsoft.com/office/powerpoint/2010/main" val="39977598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91</TotalTime>
  <Words>1014</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Gill Sans MT</vt:lpstr>
      <vt:lpstr>Gallery</vt:lpstr>
      <vt:lpstr>Korean Novel Glossary Maker</vt:lpstr>
      <vt:lpstr>What does glossary maker do?</vt:lpstr>
      <vt:lpstr>Requirements</vt:lpstr>
      <vt:lpstr>Instructions</vt:lpstr>
      <vt:lpstr>instructions</vt:lpstr>
      <vt:lpstr>Instructions – Main settings tab</vt:lpstr>
      <vt:lpstr>instructions – Main settings tab</vt:lpstr>
      <vt:lpstr>instructions – Main settings tab</vt:lpstr>
      <vt:lpstr>Instructions – AI settings tab</vt:lpstr>
      <vt:lpstr>Instructions – Log Output tab</vt:lpstr>
      <vt:lpstr>PIPELINE COMPLETED SUCCESSFULLY!</vt:lpstr>
      <vt:lpstr>Happy MTL-ing!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Foodie</dc:creator>
  <cp:lastModifiedBy>Foodie</cp:lastModifiedBy>
  <cp:revision>75</cp:revision>
  <dcterms:created xsi:type="dcterms:W3CDTF">2025-12-29T10:38:06Z</dcterms:created>
  <dcterms:modified xsi:type="dcterms:W3CDTF">2026-05-28T16:20:46Z</dcterms:modified>
</cp:coreProperties>
</file>